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71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18922" y="79785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451271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018108"/>
            <a:ext cx="7562126" cy="35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Name </a:t>
            </a:r>
            <a:r>
              <a:rPr lang="en-US" sz="1800" dirty="0">
                <a:solidFill>
                  <a:schemeClr val="bg1"/>
                </a:solidFill>
              </a:rPr>
              <a:t>–</a:t>
            </a:r>
            <a:r>
              <a:rPr lang="en-US" sz="1600" b="1" dirty="0">
                <a:solidFill>
                  <a:schemeClr val="bg1"/>
                </a:solidFill>
              </a:rPr>
              <a:t>404: Sleep Not Found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Members </a:t>
            </a:r>
            <a:r>
              <a:rPr lang="en-US" sz="1800" dirty="0">
                <a:solidFill>
                  <a:schemeClr val="bg1"/>
                </a:solidFill>
              </a:rPr>
              <a:t>– </a:t>
            </a:r>
            <a:r>
              <a:rPr lang="en-US" sz="1600" dirty="0">
                <a:solidFill>
                  <a:schemeClr val="bg1"/>
                </a:solidFill>
              </a:rPr>
              <a:t>S Dheeraaj Khaan (CB.SC.U4CSE26242)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R Rohit (CB.SC.U4CSE26344)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600" dirty="0">
                <a:solidFill>
                  <a:schemeClr val="bg1"/>
                </a:solidFill>
              </a:rPr>
              <a:t>	                   Rebekah D Antony (CB.SC.U4CSE26241)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600" dirty="0">
                <a:solidFill>
                  <a:schemeClr val="bg1"/>
                </a:solidFill>
              </a:rPr>
              <a:t>	                   S Harini (CB.SC.U4CSE26243)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Selected Domain</a:t>
            </a:r>
            <a:r>
              <a:rPr lang="en-US" sz="1600" dirty="0">
                <a:solidFill>
                  <a:schemeClr val="bg1"/>
                </a:solidFill>
              </a:rPr>
              <a:t> – Domain 6 ( Healthcare biotechnology and human well-being )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Problem Statement </a:t>
            </a:r>
            <a:r>
              <a:rPr lang="en-US" sz="1600" dirty="0">
                <a:solidFill>
                  <a:schemeClr val="bg1"/>
                </a:solidFill>
              </a:rPr>
              <a:t>– Millions in under-resourced areas lack access to basic blood tests for conditions like anaemia  due to high lab costs and missing medical infrastructure. Consequently, early-stage health issues go undiagnosed until severe complications arise.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85672" y="14173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In remote villages, many people already have early stages of long-term illnesses like   anaemia , but nobody finds out. Detecting these early needs lab tests and trained staff, and the nearest lab can be far away and costly. So people reach a hospital only when the illness is already serious.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36092" y="2706303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exactly needs to be solved?</a:t>
            </a:r>
          </a:p>
          <a:p>
            <a:r>
              <a:rPr lang="en-US" dirty="0"/>
              <a:t>                                               There is no cheap, easy way to screen for early warning signs in places without lab infrastructure . Screening should need no needles, expensive machines or specialists, only a smartphone-level tool that a local health worker can use.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Why is it important right now?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                                         </a:t>
            </a:r>
            <a:r>
              <a:rPr lang="en-IN" dirty="0"/>
              <a:t>Conditions like anaemia are rising, and they are most dangerous when found late. Smartphones with decent cameras are now common in rural areas, and on-device machine learning is advanced enough for instant screening. Early detection lowers treatment costs and reduces the load on district hospitals.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202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58952" y="2064865"/>
            <a:ext cx="10424160" cy="396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Primary users / target group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dirty="0"/>
              <a:t>                               Rural and low-income populations in remote areas without local diagnostic labs.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                               </a:t>
            </a:r>
            <a:r>
              <a:rPr lang="en-IN" dirty="0"/>
              <a:t>Pregnant women, infants, and elderly individuals at high risk for anaemia .</a:t>
            </a:r>
            <a:endParaRPr lang="en-US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Secondary stakeholders </a:t>
            </a:r>
            <a:endParaRPr lang="en-US" sz="2000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                             </a:t>
            </a:r>
            <a:r>
              <a:rPr lang="en-US" dirty="0"/>
              <a:t>Primary Health Centres (PHCs) and district hospitals who  receive the referrals</a:t>
            </a:r>
            <a:r>
              <a:rPr lang="en-US" sz="2000" dirty="0"/>
              <a:t>.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dirty="0"/>
              <a:t>	              </a:t>
            </a:r>
            <a:r>
              <a:rPr lang="en-US" dirty="0"/>
              <a:t>Clinicians, government health departments, NGOs, and village community leaders.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Who benefits if the problem is solved?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/>
              <a:t>                             </a:t>
            </a:r>
            <a:r>
              <a:rPr lang="en-IN" b="1" dirty="0"/>
              <a:t> Patients:</a:t>
            </a:r>
            <a:r>
              <a:rPr lang="en-IN" dirty="0"/>
              <a:t> Get instant, painless, zero-cost screening before complications develop.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dirty="0"/>
              <a:t>                              </a:t>
            </a:r>
            <a:r>
              <a:rPr lang="en-IN" b="1" dirty="0"/>
              <a:t>Healthcare System:</a:t>
            </a:r>
            <a:r>
              <a:rPr lang="en-IN" dirty="0"/>
              <a:t> Reduces overcrowding in district hospitals by filtering non-critical cases at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dirty="0"/>
              <a:t>                              the village level     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dirty="0"/>
              <a:t>                           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sz="1800" b="1" dirty="0">
                <a:solidFill>
                  <a:schemeClr val="tx1"/>
                </a:solidFill>
              </a:rPr>
              <a:t>                           </a:t>
            </a:r>
            <a:endParaRPr lang="en-US" sz="1800" b="1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rompts"/>
              <p:cNvSpPr txBox="1"/>
              <p:nvPr/>
            </p:nvSpPr>
            <p:spPr>
              <a:xfrm>
                <a:off x="811762" y="2148840"/>
                <a:ext cx="10481077" cy="3916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79400" indent="-279400">
                  <a:spcAft>
                    <a:spcPts val="1000"/>
                  </a:spcAft>
                  <a:buClr>
                    <a:schemeClr val="accent1"/>
                  </a:buClr>
                  <a:buSzPct val="100000"/>
                  <a:buChar char="•"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Existing scenario and background</a:t>
                </a:r>
              </a:p>
              <a:p>
                <a:pPr>
                  <a:spcAft>
                    <a:spcPts val="1000"/>
                  </a:spcAft>
                  <a:buClr>
                    <a:schemeClr val="accent1"/>
                  </a:buClr>
                  <a:buSzPct val="100000"/>
                </a:pPr>
                <a:r>
                  <a:rPr lang="en-US" dirty="0"/>
                  <a:t>                          </a:t>
                </a:r>
                <a:r>
                  <a:rPr lang="en-IN" dirty="0"/>
                  <a:t>Primary screening in remote regions relies heavily on physical symptom observation or travel to    urban lab centres.</a:t>
                </a:r>
                <a:endParaRPr lang="en-US" sz="1800" dirty="0"/>
              </a:p>
              <a:p>
                <a:pPr marL="279400" indent="-279400">
                  <a:spcAft>
                    <a:spcPts val="1000"/>
                  </a:spcAft>
                  <a:buClr>
                    <a:schemeClr val="accent1"/>
                  </a:buClr>
                  <a:buSzPct val="100000"/>
                  <a:buChar char="•"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Relevant data or facts (if available)</a:t>
                </a:r>
              </a:p>
              <a:p>
                <a:pPr>
                  <a:spcAft>
                    <a:spcPts val="1000"/>
                  </a:spcAft>
                  <a:buClr>
                    <a:schemeClr val="accent1"/>
                  </a:buClr>
                  <a:buSzPct val="100000"/>
                </a:pPr>
                <a:r>
                  <a:rPr lang="en-US" b="1" dirty="0"/>
                  <a:t>                          </a:t>
                </a:r>
                <a:r>
                  <a:rPr lang="en-US" dirty="0"/>
                  <a:t>The National Family Health Survey (NFHS-5, 2019-21) reported that more than half of women aged 15-49 and a majority of young children are anemic. </a:t>
                </a:r>
                <a:endParaRPr lang="en-IN" dirty="0"/>
              </a:p>
              <a:p>
                <a:pPr>
                  <a:spcAft>
                    <a:spcPts val="1000"/>
                  </a:spcAft>
                  <a:buClr>
                    <a:schemeClr val="accent1"/>
                  </a:buClr>
                  <a:buSzPct val="100000"/>
                </a:pPr>
                <a:r>
                  <a:rPr lang="en-IN" sz="1800" b="1" dirty="0"/>
                  <a:t>                          </a:t>
                </a:r>
                <a:r>
                  <a:rPr lang="en-IN" dirty="0"/>
                  <a:t>Traditional venous blood testing requires trained phlebotomists, cold-chain storage, and lab equipment that rural PHCs lack. </a:t>
                </a:r>
                <a:endParaRPr lang="en-US" sz="1800" b="1" dirty="0"/>
              </a:p>
              <a:p>
                <a:pPr marL="279400" indent="-279400">
                  <a:spcAft>
                    <a:spcPts val="1000"/>
                  </a:spcAft>
                  <a:buClr>
                    <a:schemeClr val="accent1"/>
                  </a:buClr>
                  <a:buSzPct val="100000"/>
                  <a:buChar char="•"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Current workflow, step by step</a:t>
                </a:r>
              </a:p>
              <a:p>
                <a:pPr>
                  <a:spcAft>
                    <a:spcPts val="1000"/>
                  </a:spcAft>
                  <a:buClr>
                    <a:schemeClr val="accent1"/>
                  </a:buClr>
                  <a:buSzPct val="100000"/>
                </a:pPr>
                <a:r>
                  <a:rPr lang="en-US" b="1" dirty="0"/>
                  <a:t>                           1. </a:t>
                </a:r>
                <a:r>
                  <a:rPr lang="en-IN" dirty="0"/>
                  <a:t>Patient displays fatigue or paleness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b="1" dirty="0"/>
                  <a:t> 2. </a:t>
                </a:r>
                <a:r>
                  <a:rPr lang="en-IN" dirty="0"/>
                  <a:t>Travels hours to a district facility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/>
                  <a:t>3. </a:t>
                </a:r>
                <a:r>
                  <a:rPr lang="en-IN" dirty="0"/>
                  <a:t>Invasive blood draw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b="1" dirty="0"/>
                  <a:t> 4. </a:t>
                </a:r>
                <a:r>
                  <a:rPr lang="en-IN" dirty="0"/>
                  <a:t>Waits 24–48 hours for lab report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/>
                  <a:t>5</a:t>
                </a:r>
                <a:r>
                  <a:rPr lang="en-IN" dirty="0"/>
                  <a:t>. Returns for consultation (high attrition/drop-out rate) .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10" name="Promp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62" y="2148840"/>
                <a:ext cx="10481077" cy="3916680"/>
              </a:xfrm>
              <a:prstGeom prst="rect">
                <a:avLst/>
              </a:prstGeom>
              <a:blipFill>
                <a:blip r:embed="rId5"/>
                <a:stretch>
                  <a:fillRect l="-1513" t="-2336" r="-873" b="-24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b="1" kern="0" spc="3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4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Main difficulties and bottlenecks</a:t>
            </a:r>
            <a:endParaRPr lang="en-US" sz="2000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/>
              <a:t>                  </a:t>
            </a:r>
            <a:r>
              <a:rPr lang="en-IN" dirty="0"/>
              <a:t>High out-of-pocket costs for diagnostic tests and transportation.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sz="1800" b="1" dirty="0">
                <a:solidFill>
                  <a:schemeClr val="tx1"/>
                </a:solidFill>
              </a:rPr>
              <a:t>                  </a:t>
            </a:r>
            <a:r>
              <a:rPr lang="en-IN" dirty="0"/>
              <a:t>Patient fear/avoidance of invasive needle pricks during routine checkups</a:t>
            </a:r>
            <a:endParaRPr lang="en-US" sz="1800" b="1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Root causes behind them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/>
              <a:t>                  </a:t>
            </a:r>
            <a:r>
              <a:rPr lang="en-IN" dirty="0"/>
              <a:t>Centralized diagnostic infrastructure that fails to reach rural last-mile areas.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sz="1800" b="1" dirty="0"/>
              <a:t>                  </a:t>
            </a:r>
            <a:r>
              <a:rPr lang="en-IN" dirty="0"/>
              <a:t>Severe shortage of certified lab technicians in rural health centres.</a:t>
            </a:r>
            <a:endParaRPr lang="en-US" sz="1800" b="1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Consequences of leaving them unsolved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/>
              <a:t>                  </a:t>
            </a:r>
            <a:r>
              <a:rPr lang="en-IN" dirty="0"/>
              <a:t>Delayed diagnosis leads to preventable severe anaemia, organ damage, or neonatal complications.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sz="1800" b="1" dirty="0"/>
              <a:t>               </a:t>
            </a:r>
            <a:r>
              <a:rPr lang="en-IN" b="1" dirty="0"/>
              <a:t> </a:t>
            </a:r>
            <a:r>
              <a:rPr lang="en-IN" sz="1800" b="1" dirty="0"/>
              <a:t>  </a:t>
            </a:r>
            <a:r>
              <a:rPr lang="en-IN" dirty="0"/>
              <a:t>Increased long-term healthcare expenditure for families and government health funds</a:t>
            </a:r>
            <a:endParaRPr lang="en-US" sz="18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b="1" kern="0" spc="3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77240" y="1980590"/>
            <a:ext cx="1095320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Hardware Requirements </a:t>
            </a:r>
          </a:p>
          <a:p>
            <a:pPr lvl="1" algn="just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/>
              <a:t>                </a:t>
            </a:r>
            <a:r>
              <a:rPr lang="en-US" dirty="0"/>
              <a:t>Android smartphone with camera and flash. Printed colour reference card. Power bank for field use.</a:t>
            </a:r>
            <a:endParaRPr lang="en-US" b="1" dirty="0">
              <a:solidFill>
                <a:schemeClr val="tx1"/>
              </a:solidFill>
            </a:endParaRPr>
          </a:p>
          <a:p>
            <a:pPr marL="279400" indent="-279400" algn="just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Software Requirements</a:t>
            </a:r>
          </a:p>
          <a:p>
            <a:pPr algn="just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                       </a:t>
            </a:r>
            <a:r>
              <a:rPr lang="en-US" dirty="0"/>
              <a:t>Android app with guided image capture and local-language support. On-device ML model for anemia and jaundice risk. Offline storage with auto-sync. Web dashboard for PHCs to track referrals. Encrypted, consent-based data handling.</a:t>
            </a:r>
            <a:endParaRPr lang="en-US" b="1" dirty="0">
              <a:solidFill>
                <a:schemeClr val="tx1"/>
              </a:solidFill>
            </a:endParaRPr>
          </a:p>
          <a:p>
            <a:pPr marL="279400" indent="-279400" algn="just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Other resources (Including Human Resources)</a:t>
            </a:r>
            <a:endParaRPr lang="en-US" sz="2000" b="1" dirty="0"/>
          </a:p>
          <a:p>
            <a:pPr lvl="0" algn="just"/>
            <a:r>
              <a:rPr lang="en-US" sz="2000" b="1" dirty="0">
                <a:solidFill>
                  <a:schemeClr val="tx1"/>
                </a:solidFill>
              </a:rPr>
              <a:t>                        </a:t>
            </a:r>
            <a:r>
              <a:rPr lang="en-US" dirty="0"/>
              <a:t>ASHA/ANM health workers with brief training. Clinicians and a partner lab for validation. ML engineer and app developer. A diverse labelled image dataset. Ethical approval and funding support.</a:t>
            </a:r>
            <a:endParaRPr lang="en-US" b="1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/>
              <a:t>                 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b="1" kern="0" spc="3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14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03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Existing methods, systems or alternatives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 	             </a:t>
            </a:r>
            <a:r>
              <a:rPr lang="en-US" sz="2000" dirty="0"/>
              <a:t>Lab blood tests, finger-prick hemoglobin devices, research-stage smartphone eyelid-photo apps, and health camps with telemedicine.</a:t>
            </a:r>
            <a:endParaRPr lang="en-US" sz="2000" b="1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Limitations of each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dirty="0"/>
              <a:t>                             Labs are far, costly and slow; finger-prick kits are invasive; existing apps need controlled lighting or trained users and are weaker for mild cases; camps and telemedicine are periodic and connectivity-dependent.</a:t>
            </a:r>
            <a:endParaRPr lang="en-US" sz="2000" b="1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 gap they leave open (Key Challenges)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                              </a:t>
            </a:r>
            <a:r>
              <a:rPr lang="en-US" sz="2000" dirty="0"/>
              <a:t>Existing research shows eyelid photos can screen for </a:t>
            </a:r>
            <a:r>
              <a:rPr lang="en-US" sz="2000" dirty="0" err="1"/>
              <a:t>anaemia</a:t>
            </a:r>
            <a:r>
              <a:rPr lang="en-US" sz="2000" dirty="0"/>
              <a:t>, but most tools need controlled lighting, trained users or special accessories.</a:t>
            </a:r>
            <a:endParaRPr lang="en-US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b="1" kern="0" spc="3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400" b="1" dirty="0"/>
              <a:t>404: Sleep Not Found</a:t>
            </a:r>
            <a:endParaRPr lang="en-US" sz="14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your team intends to do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/>
              <a:t>                   </a:t>
            </a:r>
            <a:r>
              <a:rPr lang="en-US" sz="2000" dirty="0"/>
              <a:t>We will build a low-cost, offline smartphone tool that lets health workers screen for </a:t>
            </a:r>
            <a:r>
              <a:rPr lang="en-US" sz="2000" dirty="0" err="1"/>
              <a:t>anaemia</a:t>
            </a:r>
            <a:r>
              <a:rPr lang="en-US" sz="2000" dirty="0"/>
              <a:t> from lower-eyelid photos using on-device ML, and refer flagged people for a confirmatory blood test, starting with a small clinical pilot.</a:t>
            </a:r>
            <a:endParaRPr lang="en-US" sz="2000" b="1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you want to improve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                        </a:t>
            </a:r>
            <a:r>
              <a:rPr lang="en-IN" sz="2000" dirty="0"/>
              <a:t>Accessibility, speed, and comfort of primary health screening in off-grid environments.</a:t>
            </a:r>
            <a:endParaRPr lang="en-US" sz="2000" b="1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successful improvement should you achieve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                        </a:t>
            </a:r>
            <a:r>
              <a:rPr lang="en-US" sz="2000" dirty="0"/>
              <a:t>High agreement with lab results. More people screened per health worker. More cases caught early and fewer late-stage emergencies. Most flagged people reaching confirmatory tests. Much lower cost per screening.</a:t>
            </a:r>
            <a:endParaRPr lang="en-US" sz="20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1049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Cambria Math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PROBLEM INSIGHTS &amp; OPPORTUNITY AREAS</vt:lpstr>
      <vt:lpstr>EXISTING SOLUTIONS / APPROACHES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sdheeraajkhaan@gmail.com</cp:lastModifiedBy>
  <cp:revision>7</cp:revision>
  <dcterms:created xsi:type="dcterms:W3CDTF">2026-10-07T15:27:40Z</dcterms:created>
  <dcterms:modified xsi:type="dcterms:W3CDTF">2026-10-09T18:08:09Z</dcterms:modified>
</cp:coreProperties>
</file>